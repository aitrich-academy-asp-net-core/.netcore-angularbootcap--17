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3" r:id="rId16"/>
    <p:sldId id="274" r:id="rId17"/>
    <p:sldId id="276" r:id="rId18"/>
    <p:sldId id="277" r:id="rId19"/>
    <p:sldId id="279" r:id="rId20"/>
    <p:sldId id="280" r:id="rId21"/>
    <p:sldId id="281" r:id="rId22"/>
    <p:sldId id="282" r:id="rId23"/>
  </p:sldIdLst>
  <p:sldSz cx="12192000" cy="6858000"/>
  <p:notesSz cx="6858000" cy="9144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  <p:embeddedFont>
      <p:font typeface="Bell MT" panose="02020503060305020303" pitchFamily="18" charset="0"/>
      <p:regular r:id="rId29"/>
      <p:bold r:id="rId30"/>
      <p: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gJ5jrC3kKYGW5ZS42NhkM0VOq3e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siya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06" autoAdjust="0"/>
    <p:restoredTop sz="94660"/>
  </p:normalViewPr>
  <p:slideViewPr>
    <p:cSldViewPr snapToGrid="0">
      <p:cViewPr varScale="1">
        <p:scale>
          <a:sx n="65" d="100"/>
          <a:sy n="65" d="100"/>
        </p:scale>
        <p:origin x="5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8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7" Type="http://customschemas.google.com/relationships/presentationmetadata" Target="meta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3-06-06T13:59:18.471" idx="1">
    <p:pos x="6076" y="2785"/>
    <p:text/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A5OCWugw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3269877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06922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9761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8529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101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151967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25800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2890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89655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5619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069776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4200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762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309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141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2497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571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73995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36201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0827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470666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330115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7" name="Google Shape;417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2903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0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537667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body" idx="2"/>
          </p:nvPr>
        </p:nvSpPr>
        <p:spPr>
          <a:xfrm>
            <a:off x="6205728" y="1600200"/>
            <a:ext cx="537667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1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2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2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32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3"/>
          <p:cNvSpPr txBox="1"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3"/>
          <p:cNvSpPr txBox="1"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Font typeface="Arial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/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/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4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4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5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5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6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6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/>
            </a:lvl9pPr>
          </a:lstStyle>
          <a:p>
            <a:endParaRPr/>
          </a:p>
        </p:txBody>
      </p:sp>
      <p:sp>
        <p:nvSpPr>
          <p:cNvPr id="61" name="Google Shape;61;p3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/>
            </a:lvl2pPr>
            <a:lvl3pPr marL="1371600" lvl="2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4pPr>
            <a:lvl5pPr marL="2286000" lvl="4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5pPr>
            <a:lvl6pPr marL="2743200" lvl="5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6pPr>
            <a:lvl7pPr marL="3200400" lvl="6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7pPr>
            <a:lvl8pPr marL="3657600" lvl="7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8pPr>
            <a:lvl9pPr marL="4114800" lvl="8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37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7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7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/>
            </a:lvl2pPr>
            <a:lvl3pPr marL="1371600" lvl="2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4pPr>
            <a:lvl5pPr marL="2286000" lvl="4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5pPr>
            <a:lvl6pPr marL="2743200" lvl="5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6pPr>
            <a:lvl7pPr marL="3200400" lvl="6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7pPr>
            <a:lvl8pPr marL="3657600" lvl="7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8pPr>
            <a:lvl9pPr marL="4114800" lvl="8" indent="-22860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38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8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9"/>
          <p:cNvSpPr txBox="1">
            <a:spLocks noGrp="1"/>
          </p:cNvSpPr>
          <p:nvPr>
            <p:ph type="body" idx="1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5" name="Google Shape;75;p39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9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9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0"/>
          <p:cNvSpPr txBox="1">
            <a:spLocks noGrp="1"/>
          </p:cNvSpPr>
          <p:nvPr>
            <p:ph type="title"/>
          </p:nvPr>
        </p:nvSpPr>
        <p:spPr>
          <a:xfrm rot="5400000">
            <a:off x="7285038" y="1828801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0"/>
          <p:cNvSpPr txBox="1">
            <a:spLocks noGrp="1"/>
          </p:cNvSpPr>
          <p:nvPr>
            <p:ph type="body" idx="1"/>
          </p:nvPr>
        </p:nvSpPr>
        <p:spPr>
          <a:xfrm rot="5400000">
            <a:off x="1719124" y="-834886"/>
            <a:ext cx="5851525" cy="8070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1" name="Google Shape;81;p40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0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0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9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800100" y="859790"/>
            <a:ext cx="10591165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2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EXCEPTION HANDLING</a:t>
            </a:r>
            <a:endParaRPr sz="7200" b="1" i="0" u="none" strike="noStrike" cap="none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1" descr="Aitrich-Logo-Transparent-BG-1536x50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5600" y="6243320"/>
            <a:ext cx="1501140" cy="340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descr="12291302_Tiny cute children learning codi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73825" y="2777490"/>
            <a:ext cx="5372100" cy="380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579120" y="135255"/>
            <a:ext cx="11003280" cy="128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CONTENTS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578485" y="1417320"/>
            <a:ext cx="5904230" cy="473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What is Exception?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Why should we catch exceptions ?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'Exception' and 'Error' ?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The different kinds of exceptions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Namespace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Some System/Runtime Exceptions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What is Exception Handling?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Structured Exception Handling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E63BD"/>
              </a:buClr>
              <a:buSzPts val="2400"/>
              <a:buFont typeface="Noto Sans Symbols"/>
              <a:buNone/>
            </a:pP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2" descr="Aitrich-Logo-Transparent-BG-1536x504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05765" y="6205855"/>
            <a:ext cx="1870710" cy="37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2" descr="5461362_2808343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6482715" y="1196975"/>
            <a:ext cx="4928235" cy="4696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CONTENTS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104" name="Google Shape;104;p3" descr="Aitrich-Logo-Transparent-BG-1536x50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05765" y="6205855"/>
            <a:ext cx="1870710" cy="37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3" descr="5461362_28083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74510" y="1429385"/>
            <a:ext cx="4928235" cy="492823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608965" y="1417955"/>
            <a:ext cx="5454650" cy="3068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try/catch Blocks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Multiple Catch Blocks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Clr>
                <a:srgbClr val="1E63BD"/>
              </a:buClr>
              <a:buSzPts val="18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Finally Blocks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-1270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rgbClr val="1E63BD"/>
              </a:buClr>
              <a:buSzPts val="20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Application Exception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-1270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rgbClr val="1E63BD"/>
              </a:buClr>
              <a:buSzPts val="20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Defensive Programming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-1270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rgbClr val="1E63BD"/>
              </a:buClr>
              <a:buSzPts val="2000"/>
              <a:buFont typeface="Noto Sans Symbols"/>
              <a:buChar char="⮚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Best Practices for Handling Exceptions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>
            <a:spLocks noGrp="1"/>
          </p:cNvSpPr>
          <p:nvPr>
            <p:ph type="title"/>
          </p:nvPr>
        </p:nvSpPr>
        <p:spPr>
          <a:xfrm>
            <a:off x="609600" y="274955"/>
            <a:ext cx="11125200" cy="1085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>
                <a:solidFill>
                  <a:srgbClr val="002060"/>
                </a:solidFill>
              </a:rPr>
              <a:t>What Is Exception???</a:t>
            </a:r>
            <a:endParaRPr>
              <a:solidFill>
                <a:srgbClr val="002060"/>
              </a:solidFill>
            </a:endParaRPr>
          </a:p>
        </p:txBody>
      </p:sp>
      <p:pic>
        <p:nvPicPr>
          <p:cNvPr id="112" name="Google Shape;112;p4" descr="13330330_Feb-Business_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15960" y="1903730"/>
            <a:ext cx="3760470" cy="348742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4"/>
          <p:cNvSpPr/>
          <p:nvPr/>
        </p:nvSpPr>
        <p:spPr>
          <a:xfrm>
            <a:off x="629285" y="1992630"/>
            <a:ext cx="7305040" cy="71882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629285" y="2120900"/>
            <a:ext cx="7196455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Exception is an event during the execution of the program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29920" y="4570730"/>
            <a:ext cx="7303770" cy="98806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714375" y="4693920"/>
            <a:ext cx="702691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 exception is an unexpected state during the execution of code</a:t>
            </a:r>
            <a:r>
              <a:rPr lang="en-IN" sz="20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4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5745" y="6401435"/>
            <a:ext cx="1483360" cy="377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/>
          <p:nvPr/>
        </p:nvSpPr>
        <p:spPr>
          <a:xfrm>
            <a:off x="369570" y="3223895"/>
            <a:ext cx="7688580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It disrupts the normal flow of instructions during the execution of a program.</a:t>
            </a:r>
            <a:r>
              <a:rPr lang="en-IN" sz="24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369570" y="3223895"/>
            <a:ext cx="7712710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It disrupts the normal flow of instructions during the execution of a program.</a:t>
            </a:r>
            <a:r>
              <a:rPr lang="en-IN" sz="24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629285" y="3013075"/>
            <a:ext cx="7304405" cy="121856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"/>
          <p:cNvSpPr txBox="1"/>
          <p:nvPr/>
        </p:nvSpPr>
        <p:spPr>
          <a:xfrm>
            <a:off x="734060" y="3223895"/>
            <a:ext cx="7200265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It disrupts the normal flow of instructions during the execution of a program.</a:t>
            </a:r>
            <a:r>
              <a:rPr lang="en-IN" sz="22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2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Why should we catch exceptions 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sp>
        <p:nvSpPr>
          <p:cNvPr id="127" name="Google Shape;127;p5"/>
          <p:cNvSpPr txBox="1"/>
          <p:nvPr/>
        </p:nvSpPr>
        <p:spPr>
          <a:xfrm>
            <a:off x="438785" y="1417955"/>
            <a:ext cx="11772265" cy="549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⮚"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To make your program robust and reliable. 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⮚"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And it is vital for ensuring the quality of your code .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⮚"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 good programmer is someone who never introduce bad code in his projects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⮚"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If an exception is not 'handled' in code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60000"/>
              </a:lnSpc>
              <a:spcBef>
                <a:spcPts val="48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None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	The application will crash and user will see an ugly message. 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60000"/>
              </a:lnSpc>
              <a:spcBef>
                <a:spcPts val="48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None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	Instead, you can catch the exception, log the errors and show a friendly 		message to the user.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None/>
            </a:pP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63BD"/>
              </a:buClr>
              <a:buSzPts val="2400"/>
              <a:buFont typeface="Arial"/>
              <a:buNone/>
            </a:pP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5" descr="SL-032722-49310-1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0026650" y="1206500"/>
            <a:ext cx="1828165" cy="156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5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5745" y="6401435"/>
            <a:ext cx="148336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280670" y="274955"/>
            <a:ext cx="1149223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None/>
            </a:pPr>
            <a:r>
              <a:rPr lang="en-IN" sz="2400" b="0" i="0" u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'</a:t>
            </a:r>
            <a:br>
              <a:rPr lang="en-IN" sz="2400" b="0" i="0" u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IN" sz="4400" b="0" i="0" u="none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Exception and Error?</a:t>
            </a:r>
            <a:r>
              <a:rPr lang="en-IN" sz="2400" b="0" i="0" u="none">
                <a:solidFill>
                  <a:schemeClr val="dk2"/>
                </a:solidFill>
                <a:latin typeface="Bell MT"/>
                <a:ea typeface="Bell MT"/>
                <a:cs typeface="Bell MT"/>
                <a:sym typeface="Bell MT"/>
              </a:rPr>
              <a:t/>
            </a:r>
            <a:br>
              <a:rPr lang="en-IN" sz="2400" b="0" i="0" u="none">
                <a:solidFill>
                  <a:schemeClr val="dk2"/>
                </a:solidFill>
                <a:latin typeface="Bell MT"/>
                <a:ea typeface="Bell MT"/>
                <a:cs typeface="Bell MT"/>
                <a:sym typeface="Bell MT"/>
              </a:rPr>
            </a:br>
            <a:endParaRPr sz="2400" b="0" i="0" u="none">
              <a:solidFill>
                <a:schemeClr val="dk2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145" name="Google Shape;145;p7" descr="11235900_11083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91525" y="2139315"/>
            <a:ext cx="3676650" cy="358394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7"/>
          <p:cNvSpPr/>
          <p:nvPr/>
        </p:nvSpPr>
        <p:spPr>
          <a:xfrm>
            <a:off x="725805" y="3233420"/>
            <a:ext cx="7660005" cy="130746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854710" y="3331845"/>
            <a:ext cx="7412355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When an error interrupts the flow, the program tries to find an exception handler 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673735" y="4654550"/>
            <a:ext cx="7712075" cy="118745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854710" y="4749165"/>
            <a:ext cx="7412355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block of code that tells it how to react,Which will help it resume the flow.</a:t>
            </a:r>
            <a:r>
              <a:rPr lang="en-IN" sz="2400" b="1" i="1" u="sng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741045" y="2047875"/>
            <a:ext cx="7649845" cy="107188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 txBox="1"/>
          <p:nvPr/>
        </p:nvSpPr>
        <p:spPr>
          <a:xfrm>
            <a:off x="860425" y="2192655"/>
            <a:ext cx="7412355" cy="1198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 error is the event; an exception is the object that event creates.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7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670" y="6356350"/>
            <a:ext cx="148336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8" descr="Exception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7620000" y="1847850"/>
            <a:ext cx="3962400" cy="3686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8"/>
          <p:cNvSpPr txBox="1"/>
          <p:nvPr/>
        </p:nvSpPr>
        <p:spPr>
          <a:xfrm>
            <a:off x="657860" y="408305"/>
            <a:ext cx="1051306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4400" dirty="0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TYPES OF EXCEPTION</a:t>
            </a:r>
            <a:endParaRPr sz="4400" dirty="0"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488315" y="1388110"/>
            <a:ext cx="4058920" cy="108521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8"/>
          <p:cNvSpPr txBox="1"/>
          <p:nvPr/>
        </p:nvSpPr>
        <p:spPr>
          <a:xfrm>
            <a:off x="657860" y="1731010"/>
            <a:ext cx="2962910" cy="39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EXCEPTION</a:t>
            </a:r>
            <a:endParaRPr sz="2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488315" y="3991610"/>
            <a:ext cx="4058920" cy="108521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8"/>
          <p:cNvSpPr txBox="1"/>
          <p:nvPr/>
        </p:nvSpPr>
        <p:spPr>
          <a:xfrm>
            <a:off x="657860" y="4360545"/>
            <a:ext cx="3440430" cy="3987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APPLICATION EXCEPTION</a:t>
            </a:r>
            <a:endParaRPr sz="2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8"/>
          <p:cNvSpPr txBox="1"/>
          <p:nvPr/>
        </p:nvSpPr>
        <p:spPr>
          <a:xfrm>
            <a:off x="931545" y="5534025"/>
            <a:ext cx="6722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r>
              <a:rPr lang="en-IN" sz="20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Thrown By </a:t>
            </a:r>
            <a:r>
              <a:rPr lang="en-IN" sz="2000" dirty="0" err="1">
                <a:solidFill>
                  <a:srgbClr val="0070C0"/>
                </a:solidFill>
              </a:rPr>
              <a:t>Application</a:t>
            </a:r>
            <a:r>
              <a:rPr lang="en-IN" sz="2000" dirty="0" err="1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,using</a:t>
            </a:r>
            <a:r>
              <a:rPr lang="en-IN" sz="20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 “throw” Clause</a:t>
            </a:r>
            <a:endParaRPr sz="2000" dirty="0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8"/>
          <p:cNvSpPr txBox="1"/>
          <p:nvPr/>
        </p:nvSpPr>
        <p:spPr>
          <a:xfrm>
            <a:off x="1478915" y="2879090"/>
            <a:ext cx="62661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	Thrown by the </a:t>
            </a:r>
            <a:r>
              <a:rPr lang="en-IN" sz="2000">
                <a:solidFill>
                  <a:srgbClr val="0070C0"/>
                </a:solidFill>
              </a:rPr>
              <a:t>CLR </a:t>
            </a:r>
            <a:r>
              <a:rPr lang="en-IN" sz="20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at run time</a:t>
            </a:r>
            <a:endParaRPr sz="2000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8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670" y="6356350"/>
            <a:ext cx="148336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Namespace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171" name="Google Shape;171;p9" descr="C:\Users\Owner\Desktop\image088.gif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617335" y="1719580"/>
            <a:ext cx="4562475" cy="341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9"/>
          <p:cNvSpPr/>
          <p:nvPr/>
        </p:nvSpPr>
        <p:spPr>
          <a:xfrm>
            <a:off x="609600" y="2802890"/>
            <a:ext cx="4594860" cy="1494155"/>
          </a:xfrm>
          <a:prstGeom prst="round1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769620" y="3060065"/>
            <a:ext cx="426720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System.Exception is the base class for all exceptions in C#.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9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0670" y="6356350"/>
            <a:ext cx="148336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912495" y="4143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 sz="4400" b="0" i="0" u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System/Runtime Exceptions</a:t>
            </a:r>
            <a:endParaRPr sz="4400" b="0" i="0" u="none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 flipH="1">
            <a:off x="869950" y="1557655"/>
            <a:ext cx="5037455" cy="841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0"/>
          <p:cNvSpPr txBox="1"/>
          <p:nvPr/>
        </p:nvSpPr>
        <p:spPr>
          <a:xfrm>
            <a:off x="1333500" y="1750060"/>
            <a:ext cx="404050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OutOfMemoryException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6505" y="1557655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0"/>
          <p:cNvSpPr txBox="1"/>
          <p:nvPr/>
        </p:nvSpPr>
        <p:spPr>
          <a:xfrm>
            <a:off x="6640830" y="1745615"/>
            <a:ext cx="3700780" cy="1179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IndexOutOfRangeException</a:t>
            </a: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184" name="Google Shape;184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3600" y="255524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 txBox="1"/>
          <p:nvPr/>
        </p:nvSpPr>
        <p:spPr>
          <a:xfrm>
            <a:off x="1379855" y="2797175"/>
            <a:ext cx="3768090" cy="866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dirty="0" err="1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NullReferenceException</a:t>
            </a:r>
            <a:endParaRPr sz="2400" dirty="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186" name="Google Shape;186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8730" y="2590165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0"/>
          <p:cNvSpPr txBox="1"/>
          <p:nvPr/>
        </p:nvSpPr>
        <p:spPr>
          <a:xfrm>
            <a:off x="6641465" y="2798445"/>
            <a:ext cx="390652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Arithmetic Exception</a:t>
            </a:r>
            <a:endParaRPr sz="24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188" name="Google Shape;188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2495" y="358394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279525" y="3768725"/>
            <a:ext cx="4016375" cy="866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dirty="0" err="1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InvalidCastException</a:t>
            </a:r>
            <a:endParaRPr sz="2400" dirty="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190" name="Google Shape;190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8730" y="358394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0"/>
          <p:cNvSpPr txBox="1"/>
          <p:nvPr/>
        </p:nvSpPr>
        <p:spPr>
          <a:xfrm>
            <a:off x="6627495" y="3797300"/>
            <a:ext cx="403923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OverFlowException</a:t>
            </a:r>
            <a:r>
              <a:rPr lang="en-IN" sz="2400">
                <a:solidFill>
                  <a:schemeClr val="dk1"/>
                </a:solidFill>
                <a:latin typeface="Aparajita"/>
                <a:ea typeface="Aparajita"/>
                <a:cs typeface="Aparajita"/>
                <a:sym typeface="Aparajita"/>
              </a:rPr>
              <a:t> 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6465" y="472059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0"/>
          <p:cNvSpPr txBox="1"/>
          <p:nvPr/>
        </p:nvSpPr>
        <p:spPr>
          <a:xfrm>
            <a:off x="1292860" y="4875530"/>
            <a:ext cx="4425950" cy="77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ArrayTypeMismatchException</a:t>
            </a:r>
            <a:endParaRPr sz="18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194" name="Google Shape;194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760" y="466852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0"/>
          <p:cNvSpPr txBox="1"/>
          <p:nvPr/>
        </p:nvSpPr>
        <p:spPr>
          <a:xfrm>
            <a:off x="6626225" y="4909820"/>
            <a:ext cx="404050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DivideByZeroException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" name="Google Shape;196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 flipH="1">
            <a:off x="855980" y="1572260"/>
            <a:ext cx="5037455" cy="841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0"/>
          <p:cNvSpPr txBox="1"/>
          <p:nvPr/>
        </p:nvSpPr>
        <p:spPr>
          <a:xfrm>
            <a:off x="1319530" y="1764665"/>
            <a:ext cx="404050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OutOfMemoryException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12535" y="157226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0"/>
          <p:cNvSpPr txBox="1"/>
          <p:nvPr/>
        </p:nvSpPr>
        <p:spPr>
          <a:xfrm>
            <a:off x="6626860" y="1760220"/>
            <a:ext cx="3700780" cy="1179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IndexOutOfRangeException</a:t>
            </a: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6627495" y="2813050"/>
            <a:ext cx="390652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Arithmetic Exception</a:t>
            </a:r>
            <a:endParaRPr sz="24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201" name="Google Shape;201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8730" y="264668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0"/>
          <p:cNvSpPr txBox="1"/>
          <p:nvPr/>
        </p:nvSpPr>
        <p:spPr>
          <a:xfrm>
            <a:off x="6627495" y="3853815"/>
            <a:ext cx="403923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OverFlowException</a:t>
            </a:r>
            <a:r>
              <a:rPr lang="en-IN" sz="2400">
                <a:solidFill>
                  <a:schemeClr val="dk1"/>
                </a:solidFill>
                <a:latin typeface="Aparajita"/>
                <a:ea typeface="Aparajita"/>
                <a:cs typeface="Aparajita"/>
                <a:sym typeface="Aparajita"/>
              </a:rPr>
              <a:t> 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 flipH="1">
            <a:off x="855980" y="1628775"/>
            <a:ext cx="5037455" cy="84137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0"/>
          <p:cNvSpPr txBox="1"/>
          <p:nvPr/>
        </p:nvSpPr>
        <p:spPr>
          <a:xfrm>
            <a:off x="1319530" y="1821180"/>
            <a:ext cx="404050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OutOfMemoryException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12535" y="1628775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0"/>
          <p:cNvSpPr txBox="1"/>
          <p:nvPr/>
        </p:nvSpPr>
        <p:spPr>
          <a:xfrm>
            <a:off x="6626860" y="1816735"/>
            <a:ext cx="3700780" cy="1179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IndexOutOfRangeException</a:t>
            </a: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sp>
        <p:nvSpPr>
          <p:cNvPr id="207" name="Google Shape;207;p10"/>
          <p:cNvSpPr txBox="1"/>
          <p:nvPr/>
        </p:nvSpPr>
        <p:spPr>
          <a:xfrm>
            <a:off x="6627495" y="2869565"/>
            <a:ext cx="390652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Arithmetic Exception</a:t>
            </a:r>
            <a:endParaRPr sz="24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208" name="Google Shape;208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5235" y="3602990"/>
            <a:ext cx="4980940" cy="8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70" y="473964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0"/>
          <p:cNvSpPr txBox="1"/>
          <p:nvPr/>
        </p:nvSpPr>
        <p:spPr>
          <a:xfrm>
            <a:off x="1269365" y="4894580"/>
            <a:ext cx="4425950" cy="77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ArrayTypeMismatchException</a:t>
            </a:r>
            <a:endParaRPr sz="18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pic>
        <p:nvPicPr>
          <p:cNvPr id="211" name="Google Shape;211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5235" y="2665730"/>
            <a:ext cx="4980940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0"/>
          <p:cNvSpPr txBox="1"/>
          <p:nvPr/>
        </p:nvSpPr>
        <p:spPr>
          <a:xfrm>
            <a:off x="6604000" y="3872865"/>
            <a:ext cx="403923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OverFlowException</a:t>
            </a:r>
            <a:r>
              <a:rPr lang="en-IN" sz="2400">
                <a:solidFill>
                  <a:schemeClr val="dk1"/>
                </a:solidFill>
                <a:latin typeface="Aparajita"/>
                <a:ea typeface="Aparajita"/>
                <a:cs typeface="Aparajita"/>
                <a:sym typeface="Aparajita"/>
              </a:rPr>
              <a:t> 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3" name="Google Shape;213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0800000" flipH="1">
            <a:off x="963295" y="1666875"/>
            <a:ext cx="4881880" cy="8413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0"/>
          <p:cNvSpPr txBox="1"/>
          <p:nvPr/>
        </p:nvSpPr>
        <p:spPr>
          <a:xfrm>
            <a:off x="1334135" y="1802130"/>
            <a:ext cx="404050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dirty="0" err="1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OutOfMemoryException</a:t>
            </a:r>
            <a:endParaRPr sz="2400" dirty="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5" name="Google Shape;215;p10" descr="Capture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8730" y="1647825"/>
            <a:ext cx="4944745" cy="8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0"/>
          <p:cNvSpPr txBox="1"/>
          <p:nvPr/>
        </p:nvSpPr>
        <p:spPr>
          <a:xfrm>
            <a:off x="6603365" y="1835785"/>
            <a:ext cx="4439920" cy="77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IndexOutOfRangeException</a:t>
            </a: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6604000" y="2888615"/>
            <a:ext cx="390652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parajita"/>
                <a:ea typeface="Aparajita"/>
                <a:cs typeface="Aparajita"/>
                <a:sym typeface="Aparajita"/>
              </a:rPr>
              <a:t>Arithmetic Exception</a:t>
            </a:r>
            <a:endParaRPr sz="2400">
              <a:solidFill>
                <a:schemeClr val="accent3"/>
              </a:solidFill>
              <a:latin typeface="Aparajita"/>
              <a:ea typeface="Aparajita"/>
              <a:cs typeface="Aparajita"/>
              <a:sym typeface="Aparajit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2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What Is Exception Handling??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223" name="Google Shape;223;p11" descr="27828922_7338023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7778750" y="2874645"/>
            <a:ext cx="4412615" cy="3270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1"/>
          <p:cNvSpPr txBox="1"/>
          <p:nvPr/>
        </p:nvSpPr>
        <p:spPr>
          <a:xfrm>
            <a:off x="520065" y="1867535"/>
            <a:ext cx="10807065" cy="82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520065" y="1867535"/>
            <a:ext cx="10972800" cy="85788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1"/>
          <p:cNvSpPr txBox="1"/>
          <p:nvPr/>
        </p:nvSpPr>
        <p:spPr>
          <a:xfrm>
            <a:off x="708660" y="1991360"/>
            <a:ext cx="10386695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“Exception handling" means interpreting and reacting to the exceptions created by errors.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11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5745" y="6144895"/>
            <a:ext cx="1870710" cy="3778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1"/>
          <p:cNvSpPr/>
          <p:nvPr/>
        </p:nvSpPr>
        <p:spPr>
          <a:xfrm>
            <a:off x="518795" y="4202430"/>
            <a:ext cx="6765925" cy="101536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Achieved using the Try - Catch - Finally block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520065" y="2884805"/>
            <a:ext cx="6766560" cy="11303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Built mechanism in .NET framework to detect and handle run time errors.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2" descr="Picture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919345" y="753745"/>
            <a:ext cx="693420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2"/>
          <p:cNvSpPr txBox="1"/>
          <p:nvPr/>
        </p:nvSpPr>
        <p:spPr>
          <a:xfrm>
            <a:off x="6091555" y="1605280"/>
            <a:ext cx="4246880" cy="39693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try{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........</a:t>
            </a:r>
            <a:b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catch(SomeException e1){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.....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catch(AnotherException e2){</a:t>
            </a:r>
            <a:b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.....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finally{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.....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6" name="Google Shape;236;p12"/>
          <p:cNvCxnSpPr/>
          <p:nvPr/>
        </p:nvCxnSpPr>
        <p:spPr>
          <a:xfrm rot="10800000">
            <a:off x="4438650" y="1395730"/>
            <a:ext cx="1800225" cy="42354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37" name="Google Shape;237;p12"/>
          <p:cNvSpPr/>
          <p:nvPr/>
        </p:nvSpPr>
        <p:spPr>
          <a:xfrm>
            <a:off x="360045" y="1047115"/>
            <a:ext cx="4020820" cy="111442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2"/>
          <p:cNvSpPr txBox="1"/>
          <p:nvPr/>
        </p:nvSpPr>
        <p:spPr>
          <a:xfrm>
            <a:off x="533400" y="1184910"/>
            <a:ext cx="373380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Code Bolock for which we want to catch some  Exception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9" name="Google Shape;239;p12"/>
          <p:cNvCxnSpPr/>
          <p:nvPr/>
        </p:nvCxnSpPr>
        <p:spPr>
          <a:xfrm flipH="1">
            <a:off x="4307840" y="2600325"/>
            <a:ext cx="1931035" cy="72961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240" name="Google Shape;240;p12"/>
          <p:cNvCxnSpPr/>
          <p:nvPr/>
        </p:nvCxnSpPr>
        <p:spPr>
          <a:xfrm rot="10800000">
            <a:off x="4333875" y="3362325"/>
            <a:ext cx="1771650" cy="381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41" name="Google Shape;241;p12"/>
          <p:cNvSpPr/>
          <p:nvPr/>
        </p:nvSpPr>
        <p:spPr>
          <a:xfrm>
            <a:off x="367665" y="2448560"/>
            <a:ext cx="3956685" cy="159385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662940" y="2584450"/>
            <a:ext cx="3463290" cy="144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Each catch deals with class of Exceptions,determined by the run-time system based on the type of the argument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12"/>
          <p:cNvCxnSpPr/>
          <p:nvPr/>
        </p:nvCxnSpPr>
        <p:spPr>
          <a:xfrm flipH="1">
            <a:off x="4333875" y="4314825"/>
            <a:ext cx="1847850" cy="59055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244" name="Google Shape;244;p12"/>
          <p:cNvSpPr/>
          <p:nvPr/>
        </p:nvSpPr>
        <p:spPr>
          <a:xfrm>
            <a:off x="367665" y="4328795"/>
            <a:ext cx="3940175" cy="12700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2"/>
          <p:cNvSpPr txBox="1"/>
          <p:nvPr/>
        </p:nvSpPr>
        <p:spPr>
          <a:xfrm>
            <a:off x="662940" y="4460240"/>
            <a:ext cx="3550285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 code in finally is executed always after leaving the try-block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 txBox="1">
            <a:spLocks noGrp="1"/>
          </p:cNvSpPr>
          <p:nvPr>
            <p:ph type="body" idx="2"/>
          </p:nvPr>
        </p:nvSpPr>
        <p:spPr>
          <a:xfrm>
            <a:off x="5363845" y="2161540"/>
            <a:ext cx="4042410" cy="3919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/>
          </a:p>
        </p:txBody>
      </p:sp>
      <p:pic>
        <p:nvPicPr>
          <p:cNvPr id="247" name="Google Shape;247;p12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5745" y="6144895"/>
            <a:ext cx="1870710" cy="37782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2"/>
          <p:cNvSpPr txBox="1"/>
          <p:nvPr/>
        </p:nvSpPr>
        <p:spPr>
          <a:xfrm>
            <a:off x="245745" y="114935"/>
            <a:ext cx="392557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200" b="1">
                <a:solidFill>
                  <a:schemeClr val="dk1"/>
                </a:solidFill>
                <a:latin typeface="Bell MT"/>
                <a:ea typeface="Bell MT"/>
                <a:cs typeface="Bell MT"/>
                <a:sym typeface="Bell MT"/>
              </a:rPr>
              <a:t>Structure:</a:t>
            </a:r>
            <a:endParaRPr sz="3200" b="1">
              <a:solidFill>
                <a:schemeClr val="dk1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13" descr="Capture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702425" y="1364594"/>
            <a:ext cx="489585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3"/>
          <p:cNvSpPr/>
          <p:nvPr/>
        </p:nvSpPr>
        <p:spPr>
          <a:xfrm>
            <a:off x="6350" y="1344295"/>
            <a:ext cx="6205220" cy="951230"/>
          </a:xfrm>
          <a:prstGeom prst="homePlate">
            <a:avLst>
              <a:gd name="adj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3"/>
          <p:cNvSpPr txBox="1"/>
          <p:nvPr/>
        </p:nvSpPr>
        <p:spPr>
          <a:xfrm>
            <a:off x="6985" y="1344930"/>
            <a:ext cx="562991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Structured exception handling tests specific pieces of the code when exception occurs</a:t>
            </a: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29210" y="2906395"/>
            <a:ext cx="6181725" cy="1130300"/>
          </a:xfrm>
          <a:prstGeom prst="homePlate">
            <a:avLst>
              <a:gd name="adj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29210" y="2981960"/>
            <a:ext cx="574802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IN" sz="2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Try...Catch...Finally</a:t>
            </a: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control structure is fundamental to structured exception handling.</a:t>
            </a:r>
            <a:r>
              <a:rPr lang="en-I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6350" y="4589145"/>
            <a:ext cx="6204585" cy="1023620"/>
          </a:xfrm>
          <a:prstGeom prst="homePlate">
            <a:avLst>
              <a:gd name="adj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13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1620" y="6129020"/>
            <a:ext cx="1870710" cy="3778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3"/>
          <p:cNvSpPr txBox="1"/>
          <p:nvPr/>
        </p:nvSpPr>
        <p:spPr>
          <a:xfrm>
            <a:off x="6350" y="4367530"/>
            <a:ext cx="563118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It Reacts differently based on the type of thrown exception.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 txBox="1"/>
          <p:nvPr/>
        </p:nvSpPr>
        <p:spPr>
          <a:xfrm>
            <a:off x="377825" y="386715"/>
            <a:ext cx="401828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b="1">
                <a:solidFill>
                  <a:schemeClr val="dk1"/>
                </a:solidFill>
                <a:latin typeface="Bell MT"/>
                <a:ea typeface="Bell MT"/>
                <a:cs typeface="Bell MT"/>
                <a:sym typeface="Bell MT"/>
              </a:rPr>
              <a:t>Work Flow:</a:t>
            </a:r>
            <a:endParaRPr sz="2800" b="1">
              <a:solidFill>
                <a:schemeClr val="dk1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4"/>
          <p:cNvSpPr txBox="1">
            <a:spLocks noGrp="1"/>
          </p:cNvSpPr>
          <p:nvPr>
            <p:ph type="title"/>
          </p:nvPr>
        </p:nvSpPr>
        <p:spPr>
          <a:xfrm>
            <a:off x="609600" y="274955"/>
            <a:ext cx="10847705" cy="842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>
                <a:solidFill>
                  <a:srgbClr val="002060"/>
                </a:solidFill>
              </a:rPr>
              <a:t/>
            </a:r>
            <a:br>
              <a:rPr lang="en-IN">
                <a:solidFill>
                  <a:srgbClr val="002060"/>
                </a:solidFill>
              </a:rPr>
            </a:br>
            <a:r>
              <a:rPr lang="en-IN">
                <a:solidFill>
                  <a:srgbClr val="002060"/>
                </a:solidFill>
              </a:rPr>
              <a:t>try/catch Blocks</a:t>
            </a:r>
            <a:br>
              <a:rPr lang="en-IN">
                <a:solidFill>
                  <a:srgbClr val="002060"/>
                </a:solidFill>
              </a:rPr>
            </a:br>
            <a:endParaRPr/>
          </a:p>
        </p:txBody>
      </p:sp>
      <p:sp>
        <p:nvSpPr>
          <p:cNvPr id="267" name="Google Shape;267;p14"/>
          <p:cNvSpPr txBox="1">
            <a:spLocks noGrp="1"/>
          </p:cNvSpPr>
          <p:nvPr>
            <p:ph type="body" idx="1"/>
          </p:nvPr>
        </p:nvSpPr>
        <p:spPr>
          <a:xfrm>
            <a:off x="0" y="1673225"/>
            <a:ext cx="7529195" cy="5031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651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Noto Sans Symbols"/>
              <a:buNone/>
            </a:pP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Noto Sans Symbols"/>
              <a:buNone/>
            </a:pP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Noto Sans Symbols"/>
              <a:buNone/>
            </a:pP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1" indent="0" algn="just" rtl="0">
              <a:lnSpc>
                <a:spcPct val="160000"/>
              </a:lnSpc>
              <a:spcBef>
                <a:spcPts val="48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None/>
            </a:pPr>
            <a:r>
              <a:rPr lang="en-IN" sz="2000">
                <a:latin typeface="Arial"/>
                <a:ea typeface="Arial"/>
                <a:cs typeface="Arial"/>
                <a:sym typeface="Arial"/>
              </a:rPr>
              <a:t>  	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1" indent="0" algn="just" rtl="0">
              <a:lnSpc>
                <a:spcPct val="160000"/>
              </a:lnSpc>
              <a:spcBef>
                <a:spcPts val="48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None/>
            </a:pPr>
            <a:r>
              <a:rPr lang="en-IN" sz="2400"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IN" sz="2000">
                <a:latin typeface="Arial"/>
                <a:ea typeface="Arial"/>
                <a:cs typeface="Arial"/>
                <a:sym typeface="Arial"/>
              </a:rPr>
              <a:t>     	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just" rtl="0">
              <a:lnSpc>
                <a:spcPct val="160000"/>
              </a:lnSpc>
              <a:spcBef>
                <a:spcPts val="56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Noto Sans Symbols"/>
              <a:buNone/>
            </a:pP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Google Shape;268;p14" descr="Capture10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172450" y="1282065"/>
            <a:ext cx="3590290" cy="344741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4"/>
          <p:cNvSpPr/>
          <p:nvPr/>
        </p:nvSpPr>
        <p:spPr>
          <a:xfrm>
            <a:off x="610235" y="1413510"/>
            <a:ext cx="6878955" cy="75819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4"/>
          <p:cNvSpPr txBox="1"/>
          <p:nvPr/>
        </p:nvSpPr>
        <p:spPr>
          <a:xfrm>
            <a:off x="825500" y="1296670"/>
            <a:ext cx="6470015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When exceptions are thrown, It must be handled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459105" y="2902585"/>
            <a:ext cx="59461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This done by,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03555" y="2951480"/>
            <a:ext cx="579564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Done by using  try-catch block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4"/>
          <p:cNvSpPr txBox="1"/>
          <p:nvPr/>
        </p:nvSpPr>
        <p:spPr>
          <a:xfrm>
            <a:off x="271780" y="5330190"/>
            <a:ext cx="90963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And an exception handling code goes in the catch block</a:t>
            </a:r>
            <a:endParaRPr sz="2400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4"/>
          <p:cNvSpPr/>
          <p:nvPr/>
        </p:nvSpPr>
        <p:spPr>
          <a:xfrm>
            <a:off x="619760" y="4764405"/>
            <a:ext cx="9339580" cy="85471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609600" y="3523615"/>
            <a:ext cx="6870065" cy="95948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852805" y="3630295"/>
            <a:ext cx="644398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parajita"/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Code that could throw an exception is put in the try block 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/>
          <p:nvPr/>
        </p:nvSpPr>
        <p:spPr>
          <a:xfrm>
            <a:off x="610235" y="2552700"/>
            <a:ext cx="6900545" cy="63436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862965" y="2632710"/>
            <a:ext cx="5390515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Done by using  try-catch block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4"/>
          <p:cNvSpPr txBox="1"/>
          <p:nvPr/>
        </p:nvSpPr>
        <p:spPr>
          <a:xfrm>
            <a:off x="863600" y="4904740"/>
            <a:ext cx="911987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 Exception handling code goes in the catch block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14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1620" y="6129020"/>
            <a:ext cx="187071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>
                <a:solidFill>
                  <a:srgbClr val="002060"/>
                </a:solidFill>
              </a:rPr>
              <a:t/>
            </a:r>
            <a:br>
              <a:rPr lang="en-IN">
                <a:solidFill>
                  <a:srgbClr val="002060"/>
                </a:solidFill>
              </a:rPr>
            </a:b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Multiple Catch Blocks</a:t>
            </a:r>
            <a:r>
              <a:rPr lang="en-IN">
                <a:solidFill>
                  <a:srgbClr val="002060"/>
                </a:solidFill>
              </a:rPr>
              <a:t/>
            </a:r>
            <a:br>
              <a:rPr lang="en-IN">
                <a:solidFill>
                  <a:srgbClr val="002060"/>
                </a:solidFill>
              </a:rPr>
            </a:br>
            <a:endParaRPr>
              <a:solidFill>
                <a:srgbClr val="002060"/>
              </a:solidFill>
            </a:endParaRPr>
          </a:p>
        </p:txBody>
      </p:sp>
      <p:pic>
        <p:nvPicPr>
          <p:cNvPr id="286" name="Google Shape;286;p15" descr="5784490_2978422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32525" y="1602740"/>
            <a:ext cx="4526280" cy="452628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15"/>
          <p:cNvSpPr/>
          <p:nvPr/>
        </p:nvSpPr>
        <p:spPr>
          <a:xfrm>
            <a:off x="777875" y="2662555"/>
            <a:ext cx="5142230" cy="1894840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1061720" y="2988945"/>
            <a:ext cx="4690110" cy="1568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try block can throw multiple exceptions, which can handle by using multiple catch blocks.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15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1620" y="6129020"/>
            <a:ext cx="1870710" cy="3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>
                <a:solidFill>
                  <a:srgbClr val="002060"/>
                </a:solidFill>
              </a:rPr>
              <a:t/>
            </a:r>
            <a:br>
              <a:rPr lang="en-IN">
                <a:solidFill>
                  <a:srgbClr val="002060"/>
                </a:solidFill>
              </a:rPr>
            </a:b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Finally Blocks</a:t>
            </a:r>
            <a:r>
              <a:rPr lang="en-IN"/>
              <a:t/>
            </a:r>
            <a:br>
              <a:rPr lang="en-IN"/>
            </a:br>
            <a:r>
              <a:rPr lang="en-IN"/>
              <a:t/>
            </a:r>
            <a:br>
              <a:rPr lang="en-IN"/>
            </a:br>
            <a:endParaRPr/>
          </a:p>
        </p:txBody>
      </p:sp>
      <p:sp>
        <p:nvSpPr>
          <p:cNvPr id="314" name="Google Shape;314;p19"/>
          <p:cNvSpPr/>
          <p:nvPr/>
        </p:nvSpPr>
        <p:spPr>
          <a:xfrm>
            <a:off x="574040" y="2018665"/>
            <a:ext cx="7879080" cy="8947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9"/>
          <p:cNvSpPr txBox="1"/>
          <p:nvPr/>
        </p:nvSpPr>
        <p:spPr>
          <a:xfrm>
            <a:off x="609600" y="2237740"/>
            <a:ext cx="796798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Finally block must appear after all the catch block</a:t>
            </a:r>
            <a:r>
              <a:rPr lang="en-I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6" name="Google Shape;316;p19" descr="11121752_463718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731250" y="1980565"/>
            <a:ext cx="3460750" cy="373570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9"/>
          <p:cNvSpPr/>
          <p:nvPr/>
        </p:nvSpPr>
        <p:spPr>
          <a:xfrm>
            <a:off x="623570" y="3189605"/>
            <a:ext cx="7877175" cy="104457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9"/>
          <p:cNvSpPr txBox="1"/>
          <p:nvPr/>
        </p:nvSpPr>
        <p:spPr>
          <a:xfrm>
            <a:off x="832430" y="3278380"/>
            <a:ext cx="7362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Contains the code that always executes, whether or not any </a:t>
            </a:r>
            <a:r>
              <a:rPr lang="en-IN" sz="22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exception occurs</a:t>
            </a:r>
            <a:r>
              <a:rPr lang="en-IN" sz="2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09600" y="4693920"/>
            <a:ext cx="78963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parajita"/>
              <a:buNone/>
            </a:pPr>
            <a:r>
              <a:rPr lang="en-IN" sz="2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If you use transfer control statement in finally block, you will receive </a:t>
            </a:r>
            <a:r>
              <a:rPr lang="en-IN" sz="2200" dirty="0" err="1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cpile</a:t>
            </a:r>
            <a:r>
              <a:rPr lang="en-IN" sz="2200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2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time error</a:t>
            </a:r>
            <a:r>
              <a:rPr lang="en-IN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" name="Google Shape;325;p20" descr="835760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7439660" y="1896110"/>
            <a:ext cx="4752340" cy="473329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0"/>
          <p:cNvSpPr/>
          <p:nvPr/>
        </p:nvSpPr>
        <p:spPr>
          <a:xfrm>
            <a:off x="371475" y="533400"/>
            <a:ext cx="6154420" cy="136271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20"/>
          <p:cNvSpPr txBox="1"/>
          <p:nvPr/>
        </p:nvSpPr>
        <p:spPr>
          <a:xfrm>
            <a:off x="619125" y="1015365"/>
            <a:ext cx="48768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When to use finally block ?</a:t>
            </a:r>
            <a:endParaRPr sz="2400" b="1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 txBox="1"/>
          <p:nvPr/>
        </p:nvSpPr>
        <p:spPr>
          <a:xfrm>
            <a:off x="257175" y="2306320"/>
            <a:ext cx="7694930" cy="304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▪"/>
            </a:pPr>
            <a:r>
              <a:rPr lang="en-IN" sz="24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 code fragment that must be executed regardless of exception. </a:t>
            </a: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None/>
            </a:pP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1" indent="-3429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▪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Cleaning up resources such as closing file objects, releasing database connections etc.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None/>
            </a:pP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1" indent="-34290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Noto Sans Symbols"/>
              <a:buChar char="▪"/>
            </a:pPr>
            <a:r>
              <a:rPr lang="en-IN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Only One finally block is associated with try block.</a:t>
            </a:r>
            <a:endParaRPr sz="2400" b="1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9" name="Google Shape;329;p20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1475" y="6151880"/>
            <a:ext cx="1557020" cy="477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2"/>
          <p:cNvSpPr txBox="1">
            <a:spLocks noGrp="1"/>
          </p:cNvSpPr>
          <p:nvPr>
            <p:ph type="title"/>
          </p:nvPr>
        </p:nvSpPr>
        <p:spPr>
          <a:xfrm>
            <a:off x="609600" y="29368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 dirty="0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Application Exception</a:t>
            </a:r>
            <a:endParaRPr dirty="0"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sp>
        <p:nvSpPr>
          <p:cNvPr id="344" name="Google Shape;344;p22"/>
          <p:cNvSpPr/>
          <p:nvPr/>
        </p:nvSpPr>
        <p:spPr>
          <a:xfrm>
            <a:off x="610235" y="1772285"/>
            <a:ext cx="8236585" cy="94043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2"/>
          <p:cNvSpPr txBox="1"/>
          <p:nvPr/>
        </p:nvSpPr>
        <p:spPr>
          <a:xfrm>
            <a:off x="609600" y="2012315"/>
            <a:ext cx="8220075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Thrown by a user program, not by the common language runtime</a:t>
            </a:r>
            <a:endParaRPr sz="2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22" descr="12977763_5107023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847455" y="1437005"/>
            <a:ext cx="2992755" cy="4981575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2"/>
          <p:cNvSpPr/>
          <p:nvPr/>
        </p:nvSpPr>
        <p:spPr>
          <a:xfrm>
            <a:off x="610235" y="3061335"/>
            <a:ext cx="8236585" cy="105029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2"/>
          <p:cNvSpPr/>
          <p:nvPr/>
        </p:nvSpPr>
        <p:spPr>
          <a:xfrm>
            <a:off x="610235" y="4460240"/>
            <a:ext cx="8237220" cy="95694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2"/>
          <p:cNvSpPr txBox="1"/>
          <p:nvPr/>
        </p:nvSpPr>
        <p:spPr>
          <a:xfrm>
            <a:off x="717550" y="3117215"/>
            <a:ext cx="8284845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Create a custom exception class by deriving the  ApplicationException class.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2"/>
          <p:cNvSpPr txBox="1"/>
          <p:nvPr/>
        </p:nvSpPr>
        <p:spPr>
          <a:xfrm>
            <a:off x="842645" y="4460240"/>
            <a:ext cx="7986395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IN" sz="2200" b="1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throw</a:t>
            </a: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 statement is used to signal the occurrence of an anomalous situation (exception) during the program execution.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1" name="Google Shape;351;p22" descr="Aitrich-Logo-Transparent-BG-1536x50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6352540"/>
            <a:ext cx="1546860" cy="38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3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3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Diffensive Programming</a:t>
            </a:r>
            <a:endParaRPr>
              <a:solidFill>
                <a:srgbClr val="002060"/>
              </a:solidFill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357" name="Google Shape;357;p23" descr="12083559_Wavy_Bus-23_Single-0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456295" y="2012315"/>
            <a:ext cx="3611880" cy="3378835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3"/>
          <p:cNvSpPr/>
          <p:nvPr/>
        </p:nvSpPr>
        <p:spPr>
          <a:xfrm>
            <a:off x="704850" y="1562100"/>
            <a:ext cx="7605395" cy="107188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3"/>
          <p:cNvSpPr txBox="1"/>
          <p:nvPr/>
        </p:nvSpPr>
        <p:spPr>
          <a:xfrm>
            <a:off x="1083310" y="1657350"/>
            <a:ext cx="688086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Defensive programming is a technique that makes programs more robust to unexpected events 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3"/>
          <p:cNvSpPr/>
          <p:nvPr/>
        </p:nvSpPr>
        <p:spPr>
          <a:xfrm>
            <a:off x="681355" y="2778125"/>
            <a:ext cx="7629525" cy="104838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23"/>
          <p:cNvSpPr txBox="1"/>
          <p:nvPr/>
        </p:nvSpPr>
        <p:spPr>
          <a:xfrm>
            <a:off x="610235" y="2911475"/>
            <a:ext cx="706628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 b="0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Less program "crashes" at run time ,It increases the quality of software.</a:t>
            </a:r>
            <a:endParaRPr sz="2200" b="0" i="0" u="none" strike="noStrike" cap="non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endParaRPr sz="2200" b="0" i="0" u="none" strike="noStrike" cap="non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/>
          <p:nvPr/>
        </p:nvSpPr>
        <p:spPr>
          <a:xfrm>
            <a:off x="680720" y="4041140"/>
            <a:ext cx="7629525" cy="19234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1083310" y="4295140"/>
            <a:ext cx="6827520" cy="144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Defensive Programming is the concept of avoiding the exceptional situations to occur, even before it can occur, and exception handling is about handling an exception after it has happened</a:t>
            </a:r>
            <a:r>
              <a:rPr lang="en-I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4" name="Google Shape;364;p23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6352540"/>
            <a:ext cx="1546860" cy="38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3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Bell MT"/>
              <a:buNone/>
            </a:pP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Defensive Programming Strategies</a:t>
            </a:r>
            <a:endParaRPr>
              <a:latin typeface="Bell MT"/>
              <a:ea typeface="Bell MT"/>
              <a:cs typeface="Bell MT"/>
              <a:sym typeface="Bell MT"/>
            </a:endParaRPr>
          </a:p>
        </p:txBody>
      </p:sp>
      <p:pic>
        <p:nvPicPr>
          <p:cNvPr id="379" name="Google Shape;379;p25" descr="6504173_332759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122420" y="1913890"/>
            <a:ext cx="4298315" cy="429831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25"/>
          <p:cNvSpPr/>
          <p:nvPr/>
        </p:nvSpPr>
        <p:spPr>
          <a:xfrm>
            <a:off x="7639050" y="1685925"/>
            <a:ext cx="4199255" cy="12185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5"/>
          <p:cNvSpPr/>
          <p:nvPr/>
        </p:nvSpPr>
        <p:spPr>
          <a:xfrm>
            <a:off x="8648700" y="3387725"/>
            <a:ext cx="3048000" cy="9518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Use Safe Parsing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5"/>
          <p:cNvSpPr/>
          <p:nvPr/>
        </p:nvSpPr>
        <p:spPr>
          <a:xfrm>
            <a:off x="7639050" y="5136515"/>
            <a:ext cx="3048000" cy="9518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Use Safe Parsing</a:t>
            </a:r>
            <a:r>
              <a:rPr lang="en-IN" sz="2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5"/>
          <p:cNvSpPr/>
          <p:nvPr/>
        </p:nvSpPr>
        <p:spPr>
          <a:xfrm>
            <a:off x="1409700" y="1800225"/>
            <a:ext cx="3048000" cy="9899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5"/>
          <p:cNvSpPr/>
          <p:nvPr/>
        </p:nvSpPr>
        <p:spPr>
          <a:xfrm>
            <a:off x="495300" y="3387090"/>
            <a:ext cx="3048000" cy="9518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495300" y="5073015"/>
            <a:ext cx="3980815" cy="951865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1657350" y="2037080"/>
            <a:ext cx="287655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Check For Nulls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5"/>
          <p:cNvSpPr txBox="1"/>
          <p:nvPr/>
        </p:nvSpPr>
        <p:spPr>
          <a:xfrm>
            <a:off x="609600" y="3606800"/>
            <a:ext cx="5486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Check Object State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5"/>
          <p:cNvSpPr txBox="1"/>
          <p:nvPr/>
        </p:nvSpPr>
        <p:spPr>
          <a:xfrm>
            <a:off x="978535" y="5175885"/>
            <a:ext cx="3479165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Check Your Arguments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5"/>
          <p:cNvSpPr txBox="1"/>
          <p:nvPr/>
        </p:nvSpPr>
        <p:spPr>
          <a:xfrm>
            <a:off x="7781925" y="1913890"/>
            <a:ext cx="3914140" cy="1106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Be Careful When Working with Arrays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0" name="Google Shape;390;p25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6352540"/>
            <a:ext cx="1546860" cy="38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3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3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3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title"/>
          </p:nvPr>
        </p:nvSpPr>
        <p:spPr>
          <a:xfrm>
            <a:off x="609600" y="274003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Arial"/>
              <a:buNone/>
            </a:pPr>
            <a:r>
              <a:rPr lang="en-IN">
                <a:solidFill>
                  <a:srgbClr val="002060"/>
                </a:solidFill>
              </a:rPr>
              <a:t/>
            </a:r>
            <a:br>
              <a:rPr lang="en-IN">
                <a:solidFill>
                  <a:srgbClr val="002060"/>
                </a:solidFill>
              </a:rPr>
            </a:br>
            <a:r>
              <a:rPr lang="en-IN">
                <a:solidFill>
                  <a:srgbClr val="002060"/>
                </a:solidFill>
                <a:latin typeface="Bell MT"/>
                <a:ea typeface="Bell MT"/>
                <a:cs typeface="Bell MT"/>
                <a:sym typeface="Bell MT"/>
              </a:rPr>
              <a:t>Best Practices for Handling Exceptions</a:t>
            </a:r>
            <a:r>
              <a:rPr lang="en-IN">
                <a:latin typeface="Bell MT"/>
                <a:ea typeface="Bell MT"/>
                <a:cs typeface="Bell MT"/>
                <a:sym typeface="Bell MT"/>
              </a:rPr>
              <a:t/>
            </a:r>
            <a:br>
              <a:rPr lang="en-IN">
                <a:latin typeface="Bell MT"/>
                <a:ea typeface="Bell MT"/>
                <a:cs typeface="Bell MT"/>
                <a:sym typeface="Bell MT"/>
              </a:rPr>
            </a:br>
            <a:endParaRPr>
              <a:latin typeface="Bell MT"/>
              <a:ea typeface="Bell MT"/>
              <a:cs typeface="Bell MT"/>
              <a:sym typeface="Bell MT"/>
            </a:endParaRPr>
          </a:p>
        </p:txBody>
      </p:sp>
      <p:sp>
        <p:nvSpPr>
          <p:cNvPr id="396" name="Google Shape;396;p26"/>
          <p:cNvSpPr/>
          <p:nvPr/>
        </p:nvSpPr>
        <p:spPr>
          <a:xfrm>
            <a:off x="847090" y="1579245"/>
            <a:ext cx="10211435" cy="120777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7" name="Google Shape;397;p26" descr="3d-render-thumb-up-sign-isolated-hand-gesture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0100310" y="3682365"/>
            <a:ext cx="2091690" cy="2907665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6"/>
          <p:cNvSpPr txBox="1"/>
          <p:nvPr/>
        </p:nvSpPr>
        <p:spPr>
          <a:xfrm>
            <a:off x="838200" y="1796415"/>
            <a:ext cx="10315575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A well-designed set of error handling code blocks can make a program more robust and less prone to crashing the application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/>
          <p:nvPr/>
        </p:nvSpPr>
        <p:spPr>
          <a:xfrm>
            <a:off x="838200" y="3166110"/>
            <a:ext cx="9124950" cy="10090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6"/>
          <p:cNvSpPr txBox="1"/>
          <p:nvPr/>
        </p:nvSpPr>
        <p:spPr>
          <a:xfrm>
            <a:off x="981075" y="3440430"/>
            <a:ext cx="8734425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Know when to use a try/catch block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6"/>
          <p:cNvSpPr/>
          <p:nvPr/>
        </p:nvSpPr>
        <p:spPr>
          <a:xfrm>
            <a:off x="847725" y="4554220"/>
            <a:ext cx="9124950" cy="116967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6"/>
          <p:cNvSpPr txBox="1"/>
          <p:nvPr/>
        </p:nvSpPr>
        <p:spPr>
          <a:xfrm>
            <a:off x="837565" y="4752340"/>
            <a:ext cx="9125585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Use try/finally blocks around code that can potentially generate an exception and centralize your catch statements in one location.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3" name="Google Shape;403;p26" descr="Aitrich-Logo-Transparent-BG-1536x50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264160" y="6102985"/>
            <a:ext cx="1545590" cy="507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3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4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7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666750" y="784860"/>
            <a:ext cx="10572750" cy="10090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0" name="Google Shape;410;p27" descr="3d-render-thumb-up-sign-isolated-hand-gesture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9094470" y="3739515"/>
            <a:ext cx="2699385" cy="28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7"/>
          <p:cNvSpPr txBox="1"/>
          <p:nvPr/>
        </p:nvSpPr>
        <p:spPr>
          <a:xfrm>
            <a:off x="847725" y="1057275"/>
            <a:ext cx="9753600" cy="768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End exception class names with the word "Exception".</a:t>
            </a: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666750" y="2186305"/>
            <a:ext cx="10572750" cy="10090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 C# and the Managed Extensions for C++, use at least the three common constructors when creating your own exception classes.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/>
          <p:nvPr/>
        </p:nvSpPr>
        <p:spPr>
          <a:xfrm>
            <a:off x="666750" y="3739515"/>
            <a:ext cx="9167495" cy="1009015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5B84A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parajita"/>
              <a:buNone/>
            </a:pPr>
            <a:r>
              <a:rPr lang="en-IN"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Use grammatically correct error messages, including ending punctuation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p27" descr="Aitrich-Logo-Transparent-BG-1536x50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6352540"/>
            <a:ext cx="1546860" cy="38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Google Shape;419;p28" descr="13561931_527470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922655" y="1399540"/>
            <a:ext cx="10346055" cy="5203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28" descr="Aitrich-Logo-Transparent-BG-1536x50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298450" y="6139815"/>
            <a:ext cx="1545590" cy="507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7DB6EF"/>
      </a:accent1>
      <a:accent2>
        <a:srgbClr val="C0504D"/>
      </a:accent2>
      <a:accent3>
        <a:srgbClr val="FFFFFF"/>
      </a:accent3>
      <a:accent4>
        <a:srgbClr val="000000"/>
      </a:accent4>
      <a:accent5>
        <a:srgbClr val="C0D7F5"/>
      </a:accent5>
      <a:accent6>
        <a:srgbClr val="AC4744"/>
      </a:accent6>
      <a:hlink>
        <a:srgbClr val="0066CC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718</Words>
  <Application>Microsoft Office PowerPoint</Application>
  <PresentationFormat>Widescreen</PresentationFormat>
  <Paragraphs>135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Bell MT</vt:lpstr>
      <vt:lpstr>Aparajita</vt:lpstr>
      <vt:lpstr>Noto Sans Symbols</vt:lpstr>
      <vt:lpstr>Default Design</vt:lpstr>
      <vt:lpstr>PowerPoint Presentation</vt:lpstr>
      <vt:lpstr>CONTENTS</vt:lpstr>
      <vt:lpstr>CONTENTS</vt:lpstr>
      <vt:lpstr>What Is Exception???</vt:lpstr>
      <vt:lpstr>Why should we catch exceptions </vt:lpstr>
      <vt:lpstr>PowerPoint Presentation</vt:lpstr>
      <vt:lpstr>PowerPoint Presentation</vt:lpstr>
      <vt:lpstr>Namespace</vt:lpstr>
      <vt:lpstr>PowerPoint Presentation</vt:lpstr>
      <vt:lpstr>What Is Exception Handling??</vt:lpstr>
      <vt:lpstr>PowerPoint Presentation</vt:lpstr>
      <vt:lpstr>PowerPoint Presentation</vt:lpstr>
      <vt:lpstr> try/catch Blocks </vt:lpstr>
      <vt:lpstr> Multiple Catch Blocks </vt:lpstr>
      <vt:lpstr> Finally Blocks  </vt:lpstr>
      <vt:lpstr>PowerPoint Presentation</vt:lpstr>
      <vt:lpstr>Application Exception</vt:lpstr>
      <vt:lpstr>Diffensive Programming</vt:lpstr>
      <vt:lpstr>Defensive Programming Strategies</vt:lpstr>
      <vt:lpstr> Best Practices for Handling Exceptions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Apsara</dc:creator>
  <cp:lastModifiedBy>User</cp:lastModifiedBy>
  <cp:revision>11</cp:revision>
  <dcterms:created xsi:type="dcterms:W3CDTF">2023-06-05T11:31:00Z</dcterms:created>
  <dcterms:modified xsi:type="dcterms:W3CDTF">2025-05-02T07:23:00Z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9562160288C4473CADD7C5DF94C42276</vt:lpwstr>
  </property>
  <property fmtid="{D5CDD505-2E9C-101B-9397-08002B2CF9AE}" pid="3" name="KSOProductBuildVer">
    <vt:lpwstr>1033-11.2.0.11537</vt:lpwstr>
  </property>
</Properties>
</file>